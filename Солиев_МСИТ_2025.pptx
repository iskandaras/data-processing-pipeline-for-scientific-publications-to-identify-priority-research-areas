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9" r:id="rId4"/>
    <p:sldId id="260" r:id="rId5"/>
    <p:sldId id="261" r:id="rId6"/>
    <p:sldId id="264" r:id="rId7"/>
    <p:sldId id="265" r:id="rId8"/>
    <p:sldId id="262" r:id="rId9"/>
    <p:sldId id="258" r:id="rId10"/>
  </p:sldIdLst>
  <p:sldSz cx="12192000" cy="6858000"/>
  <p:notesSz cx="6791325" cy="987266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Дмитрий Седнев" initials="ДС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7698"/>
    <a:srgbClr val="00C8E6"/>
    <a:srgbClr val="009678"/>
    <a:srgbClr val="6955FF"/>
    <a:srgbClr val="0096AA"/>
    <a:srgbClr val="286EDC"/>
    <a:srgbClr val="FAB400"/>
    <a:srgbClr val="C83AF6"/>
    <a:srgbClr val="91D200"/>
    <a:srgbClr val="009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755" autoAdjust="0"/>
    <p:restoredTop sz="94660"/>
  </p:normalViewPr>
  <p:slideViewPr>
    <p:cSldViewPr snapToGrid="0" showGuides="1">
      <p:cViewPr varScale="1">
        <p:scale>
          <a:sx n="79" d="100"/>
          <a:sy n="79" d="100"/>
        </p:scale>
        <p:origin x="3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99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3225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46513" y="0"/>
            <a:ext cx="2943225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449973-B2ED-47F8-8A78-D28DB888792A}" type="datetimeFigureOut">
              <a:rPr lang="ru-RU" smtClean="0"/>
              <a:t>16.04.2025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377363"/>
            <a:ext cx="2943225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46513" y="9377363"/>
            <a:ext cx="2943225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5FD72E-0A6E-4C0A-A8ED-F814144E9B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45545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3225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46513" y="0"/>
            <a:ext cx="2943225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DDC125-F1CB-421D-BF0C-479EBC807B8B}" type="datetimeFigureOut">
              <a:rPr lang="ru-RU" smtClean="0"/>
              <a:t>16.04.2025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34975" y="1233488"/>
            <a:ext cx="5921375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450" y="4751388"/>
            <a:ext cx="5432425" cy="38877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7363"/>
            <a:ext cx="2943225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46513" y="9377363"/>
            <a:ext cx="2943225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DB774-640C-411A-8718-DDB764B453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545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01225" y="1608563"/>
            <a:ext cx="6760226" cy="2165607"/>
          </a:xfrm>
        </p:spPr>
        <p:txBody>
          <a:bodyPr anchor="b">
            <a:normAutofit/>
          </a:bodyPr>
          <a:lstStyle>
            <a:lvl1pPr algn="l">
              <a:defRPr sz="3400" cap="all" spc="300" baseline="0"/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01224" y="3774171"/>
            <a:ext cx="6760226" cy="832965"/>
          </a:xfrm>
        </p:spPr>
        <p:txBody>
          <a:bodyPr/>
          <a:lstStyle>
            <a:lvl1pPr marL="0" indent="0" algn="l">
              <a:buNone/>
              <a:defRPr sz="2400" spc="2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Дополнительное название</a:t>
            </a: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10" hasCustomPrompt="1"/>
          </p:nvPr>
        </p:nvSpPr>
        <p:spPr>
          <a:xfrm>
            <a:off x="867908" y="6196353"/>
            <a:ext cx="1949450" cy="289011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дата</a:t>
            </a:r>
          </a:p>
        </p:txBody>
      </p:sp>
      <p:sp>
        <p:nvSpPr>
          <p:cNvPr id="17" name="Текст 16"/>
          <p:cNvSpPr>
            <a:spLocks noGrp="1"/>
          </p:cNvSpPr>
          <p:nvPr>
            <p:ph type="body" sz="quarter" idx="12" hasCustomPrompt="1"/>
          </p:nvPr>
        </p:nvSpPr>
        <p:spPr>
          <a:xfrm>
            <a:off x="801360" y="4692869"/>
            <a:ext cx="4890102" cy="8080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ФИО выступающего,</a:t>
            </a:r>
          </a:p>
          <a:p>
            <a:pPr lvl="0"/>
            <a:r>
              <a:rPr lang="ru-RU" dirty="0"/>
              <a:t>должность</a:t>
            </a: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224" y="790241"/>
            <a:ext cx="1891537" cy="409016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2896" y="790240"/>
            <a:ext cx="3025041" cy="40901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DAE4CE1-1FF9-44CB-86F0-DB554D30C6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2" r="42219"/>
          <a:stretch/>
        </p:blipFill>
        <p:spPr>
          <a:xfrm>
            <a:off x="6936965" y="2672"/>
            <a:ext cx="5256767" cy="6855328"/>
          </a:xfrm>
          <a:prstGeom prst="rect">
            <a:avLst/>
          </a:prstGeom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4D30593-F491-4D49-BF88-0B21D832DD6B}"/>
              </a:ext>
            </a:extLst>
          </p:cNvPr>
          <p:cNvSpPr/>
          <p:nvPr userDrawn="1"/>
        </p:nvSpPr>
        <p:spPr>
          <a:xfrm>
            <a:off x="6941750" y="0"/>
            <a:ext cx="5250250" cy="6863071"/>
          </a:xfrm>
          <a:prstGeom prst="rect">
            <a:avLst/>
          </a:prstGeom>
          <a:gradFill flip="none" rotWithShape="1">
            <a:gsLst>
              <a:gs pos="67000">
                <a:schemeClr val="bg1">
                  <a:lumMod val="0"/>
                  <a:lumOff val="100000"/>
                  <a:alpha val="36000"/>
                </a:schemeClr>
              </a:gs>
              <a:gs pos="8000">
                <a:srgbClr val="3B7698">
                  <a:alpha val="49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9233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сновн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>
          <a:xfrm>
            <a:off x="9943070" y="6499653"/>
            <a:ext cx="1939182" cy="358347"/>
          </a:xfrm>
        </p:spPr>
        <p:txBody>
          <a:bodyPr/>
          <a:lstStyle/>
          <a:p>
            <a:fld id="{751D432A-D135-4954-8559-2B6A9DE81B6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89997"/>
            <a:ext cx="8289324" cy="1579005"/>
          </a:xfrm>
        </p:spPr>
        <p:txBody>
          <a:bodyPr>
            <a:normAutofit/>
          </a:bodyPr>
          <a:lstStyle>
            <a:lvl1pPr>
              <a:defRPr sz="3200"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12"/>
          </p:nvPr>
        </p:nvSpPr>
        <p:spPr>
          <a:xfrm>
            <a:off x="1983756" y="3246438"/>
            <a:ext cx="7287244" cy="325321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6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1981200" y="6499653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7" name="Дата 2"/>
          <p:cNvSpPr>
            <a:spLocks noGrp="1"/>
          </p:cNvSpPr>
          <p:nvPr>
            <p:ph type="dt" sz="half" idx="13"/>
          </p:nvPr>
        </p:nvSpPr>
        <p:spPr>
          <a:xfrm>
            <a:off x="149857" y="6499653"/>
            <a:ext cx="1495308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4959" y="547246"/>
            <a:ext cx="2677293" cy="36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248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спис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>
          <a:xfrm>
            <a:off x="9943070" y="6499653"/>
            <a:ext cx="1939182" cy="358347"/>
          </a:xfrm>
        </p:spPr>
        <p:txBody>
          <a:bodyPr/>
          <a:lstStyle/>
          <a:p>
            <a:fld id="{751D432A-D135-4954-8559-2B6A9DE81B6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89997"/>
            <a:ext cx="8312150" cy="1579005"/>
          </a:xfrm>
        </p:spPr>
        <p:txBody>
          <a:bodyPr>
            <a:normAutofit/>
          </a:bodyPr>
          <a:lstStyle>
            <a:lvl1pPr>
              <a:defRPr sz="3200" cap="all" baseline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12"/>
          </p:nvPr>
        </p:nvSpPr>
        <p:spPr>
          <a:xfrm>
            <a:off x="1983756" y="3827633"/>
            <a:ext cx="4754795" cy="26720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3"/>
          </p:nvPr>
        </p:nvSpPr>
        <p:spPr>
          <a:xfrm>
            <a:off x="6862763" y="3827558"/>
            <a:ext cx="4785540" cy="267166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4" hasCustomPrompt="1"/>
          </p:nvPr>
        </p:nvSpPr>
        <p:spPr>
          <a:xfrm>
            <a:off x="1983756" y="2959147"/>
            <a:ext cx="5108575" cy="436563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ru-RU" dirty="0"/>
              <a:t>Дополнительная информация</a:t>
            </a:r>
          </a:p>
        </p:txBody>
      </p:sp>
      <p:sp>
        <p:nvSpPr>
          <p:cNvPr id="14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1983756" y="6492875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Дата 2"/>
          <p:cNvSpPr>
            <a:spLocks noGrp="1"/>
          </p:cNvSpPr>
          <p:nvPr>
            <p:ph type="dt" sz="half" idx="15"/>
          </p:nvPr>
        </p:nvSpPr>
        <p:spPr>
          <a:xfrm>
            <a:off x="254499" y="6492874"/>
            <a:ext cx="1495308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964E95B-58DD-4AF0-9218-CB3C5C9F7F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4959" y="547246"/>
            <a:ext cx="2677293" cy="36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109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оп.информа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4199" y="680908"/>
            <a:ext cx="4061942" cy="1048039"/>
          </a:xfrm>
        </p:spPr>
        <p:txBody>
          <a:bodyPr>
            <a:normAutofit/>
          </a:bodyPr>
          <a:lstStyle>
            <a:lvl1pPr>
              <a:defRPr sz="3400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5535612" y="6450227"/>
            <a:ext cx="4324825" cy="329514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10086680" y="6450227"/>
            <a:ext cx="1795572" cy="329514"/>
          </a:xfrm>
          <a:prstGeom prst="rect">
            <a:avLst/>
          </a:prstGeom>
        </p:spPr>
        <p:txBody>
          <a:bodyPr/>
          <a:lstStyle/>
          <a:p>
            <a:fld id="{751D432A-D135-4954-8559-2B6A9DE81B6A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13"/>
          </p:nvPr>
        </p:nvSpPr>
        <p:spPr>
          <a:xfrm>
            <a:off x="5535613" y="2085975"/>
            <a:ext cx="6088062" cy="42703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14" hasCustomPrompt="1"/>
          </p:nvPr>
        </p:nvSpPr>
        <p:spPr>
          <a:xfrm>
            <a:off x="1655763" y="2085975"/>
            <a:ext cx="2990850" cy="4270375"/>
          </a:xfrm>
        </p:spPr>
        <p:txBody>
          <a:bodyPr/>
          <a:lstStyle>
            <a:lvl1pPr marL="0" indent="0">
              <a:buNone/>
              <a:defRPr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Дополнительная информация</a:t>
            </a:r>
          </a:p>
        </p:txBody>
      </p:sp>
      <p:sp>
        <p:nvSpPr>
          <p:cNvPr id="14" name="Дата 2"/>
          <p:cNvSpPr>
            <a:spLocks noGrp="1"/>
          </p:cNvSpPr>
          <p:nvPr>
            <p:ph type="dt" sz="half" idx="10"/>
          </p:nvPr>
        </p:nvSpPr>
        <p:spPr>
          <a:xfrm>
            <a:off x="1655763" y="6453496"/>
            <a:ext cx="1495308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F30CBDC-D0BB-48C4-8F97-6CA705F749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4959" y="547246"/>
            <a:ext cx="2677293" cy="36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222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 бумаг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128656" y="197708"/>
            <a:ext cx="4882610" cy="1627916"/>
          </a:xfrm>
        </p:spPr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28656" y="2203955"/>
            <a:ext cx="6585470" cy="397300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5128656" y="6440684"/>
            <a:ext cx="4882610" cy="339057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11266" y="6440684"/>
            <a:ext cx="1870986" cy="339057"/>
          </a:xfrm>
          <a:prstGeom prst="rect">
            <a:avLst/>
          </a:prstGeom>
        </p:spPr>
        <p:txBody>
          <a:bodyPr/>
          <a:lstStyle/>
          <a:p>
            <a:fld id="{751D432A-D135-4954-8559-2B6A9DE81B6A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Дата 2"/>
          <p:cNvSpPr>
            <a:spLocks noGrp="1"/>
          </p:cNvSpPr>
          <p:nvPr>
            <p:ph type="dt" sz="half" idx="10"/>
          </p:nvPr>
        </p:nvSpPr>
        <p:spPr>
          <a:xfrm>
            <a:off x="209924" y="6438730"/>
            <a:ext cx="1495308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E1902E4-6CC3-4DF2-B53C-B4F0961630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46" y="651587"/>
            <a:ext cx="2677293" cy="36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070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Узкий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396674"/>
            <a:ext cx="8300853" cy="823785"/>
          </a:xfrm>
        </p:spPr>
        <p:txBody>
          <a:bodyPr>
            <a:normAutofit/>
          </a:bodyPr>
          <a:lstStyle>
            <a:lvl1pPr>
              <a:defRPr sz="3400"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1044052" cy="454720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430492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139052" y="6430492"/>
            <a:ext cx="2743200" cy="365125"/>
          </a:xfrm>
          <a:prstGeom prst="rect">
            <a:avLst/>
          </a:prstGeom>
        </p:spPr>
        <p:txBody>
          <a:bodyPr/>
          <a:lstStyle/>
          <a:p>
            <a:fld id="{751D432A-D135-4954-8559-2B6A9DE81B6A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Дата 2"/>
          <p:cNvSpPr>
            <a:spLocks noGrp="1"/>
          </p:cNvSpPr>
          <p:nvPr>
            <p:ph type="dt" sz="half" idx="10"/>
          </p:nvPr>
        </p:nvSpPr>
        <p:spPr>
          <a:xfrm>
            <a:off x="838199" y="6430492"/>
            <a:ext cx="1495308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D8B1DBC-796D-421B-94BF-5049B4E5FC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4959" y="547246"/>
            <a:ext cx="2677293" cy="36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75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Узкий заголовок без чер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396674"/>
            <a:ext cx="8300853" cy="823785"/>
          </a:xfrm>
        </p:spPr>
        <p:txBody>
          <a:bodyPr>
            <a:normAutofit/>
          </a:bodyPr>
          <a:lstStyle>
            <a:lvl1pPr>
              <a:defRPr sz="3400"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617133"/>
            <a:ext cx="11044052" cy="475569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430492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139052" y="6430492"/>
            <a:ext cx="2743200" cy="365125"/>
          </a:xfrm>
          <a:prstGeom prst="rect">
            <a:avLst/>
          </a:prstGeom>
        </p:spPr>
        <p:txBody>
          <a:bodyPr/>
          <a:lstStyle/>
          <a:p>
            <a:fld id="{751D432A-D135-4954-8559-2B6A9DE81B6A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Дата 2"/>
          <p:cNvSpPr>
            <a:spLocks noGrp="1"/>
          </p:cNvSpPr>
          <p:nvPr>
            <p:ph type="dt" sz="half" idx="10"/>
          </p:nvPr>
        </p:nvSpPr>
        <p:spPr>
          <a:xfrm>
            <a:off x="838199" y="6430492"/>
            <a:ext cx="1495308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58EA87C-8199-48DB-BE43-04F7A584D7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4959" y="547246"/>
            <a:ext cx="2677293" cy="36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055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Безбумаж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1" y="365125"/>
            <a:ext cx="9029700" cy="1048039"/>
          </a:xfrm>
        </p:spPr>
        <p:txBody>
          <a:bodyPr>
            <a:normAutofit/>
          </a:bodyPr>
          <a:lstStyle>
            <a:lvl1pPr>
              <a:defRPr sz="3400"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139052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1D432A-D135-4954-8559-2B6A9DE81B6A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78EDC75-9A27-42EA-B52D-6B469447AB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4959" y="547246"/>
            <a:ext cx="2677293" cy="36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371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на бок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16200000">
            <a:off x="2140550" y="2698275"/>
            <a:ext cx="4398550" cy="1048039"/>
          </a:xfrm>
        </p:spPr>
        <p:txBody>
          <a:bodyPr>
            <a:normAutofit/>
          </a:bodyPr>
          <a:lstStyle>
            <a:lvl1pPr>
              <a:defRPr sz="3500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956394" y="1491963"/>
            <a:ext cx="5925858" cy="46850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455206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139052" y="6455206"/>
            <a:ext cx="2743200" cy="365125"/>
          </a:xfrm>
          <a:prstGeom prst="rect">
            <a:avLst/>
          </a:prstGeom>
        </p:spPr>
        <p:txBody>
          <a:bodyPr/>
          <a:lstStyle/>
          <a:p>
            <a:fld id="{751D432A-D135-4954-8559-2B6A9DE81B6A}" type="slidenum">
              <a:rPr lang="ru-RU" smtClean="0"/>
              <a:t>‹#›</a:t>
            </a:fld>
            <a:endParaRPr lang="ru-RU"/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13" hasCustomPrompt="1"/>
          </p:nvPr>
        </p:nvSpPr>
        <p:spPr>
          <a:xfrm>
            <a:off x="5956301" y="936625"/>
            <a:ext cx="4695224" cy="338138"/>
          </a:xfrm>
        </p:spPr>
        <p:txBody>
          <a:bodyPr/>
          <a:lstStyle>
            <a:lvl1pPr marL="0" indent="0">
              <a:buNone/>
              <a:defRPr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Дополнительная информация</a:t>
            </a:r>
          </a:p>
        </p:txBody>
      </p:sp>
      <p:sp>
        <p:nvSpPr>
          <p:cNvPr id="12" name="Дата 2"/>
          <p:cNvSpPr>
            <a:spLocks noGrp="1"/>
          </p:cNvSpPr>
          <p:nvPr>
            <p:ph type="dt" sz="half" idx="10"/>
          </p:nvPr>
        </p:nvSpPr>
        <p:spPr>
          <a:xfrm>
            <a:off x="266485" y="6455206"/>
            <a:ext cx="1495308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83AF3B3-B8D0-402A-9921-F182C79E0A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46" y="651587"/>
            <a:ext cx="2677293" cy="36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833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139052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1D432A-D135-4954-8559-2B6A9DE81B6A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Дата 2"/>
          <p:cNvSpPr>
            <a:spLocks noGrp="1"/>
          </p:cNvSpPr>
          <p:nvPr>
            <p:ph type="dt" sz="half" idx="10"/>
          </p:nvPr>
        </p:nvSpPr>
        <p:spPr>
          <a:xfrm>
            <a:off x="831850" y="6356349"/>
            <a:ext cx="1495308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257A665-746F-48B8-B95E-B71C10462B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4959" y="547246"/>
            <a:ext cx="2677293" cy="36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552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Слайд на бумаг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05232" y="1545491"/>
            <a:ext cx="6757088" cy="1472143"/>
          </a:xfrm>
        </p:spPr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953124" y="3282805"/>
            <a:ext cx="8929127" cy="289415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43873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139052" y="6438730"/>
            <a:ext cx="2743200" cy="365125"/>
          </a:xfrm>
          <a:prstGeom prst="rect">
            <a:avLst/>
          </a:prstGeom>
        </p:spPr>
        <p:txBody>
          <a:bodyPr/>
          <a:lstStyle/>
          <a:p>
            <a:fld id="{751D432A-D135-4954-8559-2B6A9DE81B6A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Дата 2"/>
          <p:cNvSpPr>
            <a:spLocks noGrp="1"/>
          </p:cNvSpPr>
          <p:nvPr>
            <p:ph type="dt" sz="half" idx="10"/>
          </p:nvPr>
        </p:nvSpPr>
        <p:spPr>
          <a:xfrm>
            <a:off x="209924" y="6438730"/>
            <a:ext cx="1495308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02FF9D2-56D1-4B25-BF35-41789B0041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4959" y="547246"/>
            <a:ext cx="2677293" cy="36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604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1" y="365125"/>
            <a:ext cx="9036050" cy="1048039"/>
          </a:xfrm>
        </p:spPr>
        <p:txBody>
          <a:bodyPr>
            <a:normAutofit/>
          </a:bodyPr>
          <a:lstStyle>
            <a:lvl1pPr>
              <a:defRPr sz="3400"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9139052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1D432A-D135-4954-8559-2B6A9DE81B6A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CB269D2-40FA-41B8-B1E3-D4A5CB8975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4959" y="547246"/>
            <a:ext cx="2677293" cy="36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3443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Только Лог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9139052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1D432A-D135-4954-8559-2B6A9DE81B6A}" type="slidenum">
              <a:rPr lang="ru-RU" smtClean="0"/>
              <a:t>‹#›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69C20AF-F7F4-47E1-A457-460661FDA1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4959" y="547246"/>
            <a:ext cx="2677293" cy="36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844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9139052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1D432A-D135-4954-8559-2B6A9DE81B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94445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бумаг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43873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139052" y="6438730"/>
            <a:ext cx="2743200" cy="365125"/>
          </a:xfrm>
          <a:prstGeom prst="rect">
            <a:avLst/>
          </a:prstGeom>
        </p:spPr>
        <p:txBody>
          <a:bodyPr/>
          <a:lstStyle/>
          <a:p>
            <a:fld id="{751D432A-D135-4954-8559-2B6A9DE81B6A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Дата 2"/>
          <p:cNvSpPr>
            <a:spLocks noGrp="1"/>
          </p:cNvSpPr>
          <p:nvPr>
            <p:ph type="dt" sz="half" idx="10"/>
          </p:nvPr>
        </p:nvSpPr>
        <p:spPr>
          <a:xfrm>
            <a:off x="209924" y="6438730"/>
            <a:ext cx="1495308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8376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6049488" cy="10480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104405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</a:t>
            </a:r>
          </a:p>
          <a:p>
            <a:pPr lvl="4"/>
            <a:r>
              <a:rPr lang="ru-RU" dirty="0"/>
              <a:t>Пятый</a:t>
            </a:r>
          </a:p>
        </p:txBody>
      </p:sp>
      <p:sp>
        <p:nvSpPr>
          <p:cNvPr id="13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9901880" y="6455135"/>
            <a:ext cx="1980371" cy="2685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AEAEAE"/>
                </a:solidFill>
              </a:defRPr>
            </a:lvl1pPr>
          </a:lstStyle>
          <a:p>
            <a:fld id="{751D432A-D135-4954-8559-2B6A9DE81B6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3627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66" r:id="rId6"/>
    <p:sldLayoutId id="2147483668" r:id="rId7"/>
    <p:sldLayoutId id="2147483665" r:id="rId8"/>
    <p:sldLayoutId id="2147483650" r:id="rId9"/>
    <p:sldLayoutId id="2147483651" r:id="rId10"/>
    <p:sldLayoutId id="2147483664" r:id="rId11"/>
    <p:sldLayoutId id="2147483654" r:id="rId12"/>
    <p:sldLayoutId id="2147483655" r:id="rId13"/>
    <p:sldLayoutId id="2147483667" r:id="rId14"/>
    <p:sldLayoutId id="2147483669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kern="1200" cap="all" baseline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../media/image8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2000" dirty="0"/>
              <a:t>ПРОГНОЗИРОВАНИЕ БУДУЩИХ ТЕНДЕНЦИЙ В НАУЧНЫХ ИССЛЕДОВАНИЯХ НА ОСНОВЕ ИНТЕГРИРОВАННОГО АНАЛИЗА ДАННЫХ ПУБЛИКАЦИЙ С ПРИМЕНЕНИЕМ МАШИННОГО ОБУЧЕНИЯ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1800" dirty="0"/>
              <a:t>Научный руководитель: канд. техн. наук, доцент ОИТ ИШИТР А.О. Савельев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Томск-2025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dirty="0"/>
              <a:t>аспирант, гр. </a:t>
            </a:r>
            <a:r>
              <a:rPr lang="en-US" dirty="0"/>
              <a:t>A1-36</a:t>
            </a:r>
            <a:endParaRPr lang="ru-RU" dirty="0"/>
          </a:p>
          <a:p>
            <a:r>
              <a:rPr lang="ru-RU" dirty="0" err="1"/>
              <a:t>Солиев</a:t>
            </a:r>
            <a:r>
              <a:rPr lang="ru-RU" dirty="0"/>
              <a:t> Искандар </a:t>
            </a:r>
            <a:r>
              <a:rPr lang="ru-RU" dirty="0" err="1"/>
              <a:t>Бегалиевич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2013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5B5ADD-7C1A-4F4E-B6C5-D722ED6D3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Цель и </a:t>
            </a:r>
            <a:r>
              <a:rPr lang="ru-RU" dirty="0"/>
              <a:t>задачи исследования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A556D2-CE3C-4461-B36B-024445330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ru-RU" dirty="0"/>
              <a:t>Цель данного исследования заключается в разработке методологии, объединяющей тематическое моделирование и машинное обучение для прогнозирования перспективных направлений научных исследований.</a:t>
            </a:r>
          </a:p>
          <a:p>
            <a:pPr>
              <a:buFont typeface="Wingdings" panose="05000000000000000000" pitchFamily="2" charset="2"/>
              <a:buChar char="q"/>
            </a:pPr>
            <a:endParaRPr lang="ru-RU" dirty="0"/>
          </a:p>
          <a:p>
            <a:pPr algn="just">
              <a:buFont typeface="Wingdings" panose="05000000000000000000" pitchFamily="2" charset="2"/>
              <a:buChar char="q"/>
            </a:pPr>
            <a:r>
              <a:rPr lang="ru-RU" dirty="0"/>
              <a:t>Задачи исследования:</a:t>
            </a:r>
          </a:p>
          <a:p>
            <a:pPr marL="342900" lvl="0" indent="-342900" algn="just">
              <a:tabLst>
                <a:tab pos="228600" algn="l"/>
              </a:tabLst>
            </a:pPr>
            <a:r>
              <a:rPr lang="ru-RU" dirty="0"/>
              <a:t>Анализ текущего состояния научных публикаций и их тематической динамики.</a:t>
            </a:r>
          </a:p>
          <a:p>
            <a:pPr marL="342900" lvl="0" indent="-342900" algn="just">
              <a:tabLst>
                <a:tab pos="457200" algn="l"/>
              </a:tabLst>
            </a:pPr>
            <a:r>
              <a:rPr lang="ru-RU" dirty="0"/>
              <a:t>Применение методов машинного обучения и статистического анализа для построения прогнозных моделей.</a:t>
            </a:r>
          </a:p>
          <a:p>
            <a:pPr marL="342900" lvl="0" indent="-342900" algn="just">
              <a:tabLst>
                <a:tab pos="457200" algn="l"/>
              </a:tabLst>
            </a:pPr>
            <a:r>
              <a:rPr lang="ru-RU" dirty="0"/>
              <a:t>Выявление ключевых направлений, которые будут доминировать в науке в ближайшие годы.</a:t>
            </a:r>
            <a:endParaRPr lang="ru-RU" dirty="0">
              <a:latin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F024BB-A123-4747-BE13-1A99CC236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D432A-D135-4954-8559-2B6A9DE81B6A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485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90F126-693F-404F-86D1-1738884C5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Исходные данные для исследования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B6EF35A-1C3E-4732-8EC3-1B8284F6B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D432A-D135-4954-8559-2B6A9DE81B6A}" type="slidenum">
              <a:rPr lang="ru-RU" smtClean="0"/>
              <a:t>3</a:t>
            </a:fld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73EC75-415B-4210-94CB-189964352EE8}"/>
              </a:ext>
            </a:extLst>
          </p:cNvPr>
          <p:cNvSpPr txBox="1"/>
          <p:nvPr/>
        </p:nvSpPr>
        <p:spPr>
          <a:xfrm>
            <a:off x="7681464" y="3755472"/>
            <a:ext cx="420078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b="1" i="0" dirty="0">
                <a:effectLst/>
                <a:latin typeface="+mj-lt"/>
              </a:rPr>
              <a:t>Автоматизация извлечения</a:t>
            </a:r>
          </a:p>
          <a:p>
            <a:pPr algn="ctr"/>
            <a:r>
              <a:rPr lang="ru-RU" sz="1400" b="0" i="0" dirty="0">
                <a:effectLst/>
                <a:latin typeface="+mj-lt"/>
              </a:rPr>
              <a:t>Использование API Lens.org для сбора, фильтрации и структурирования данных.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805E4D-6C41-4708-B865-42EE6A33573A}"/>
              </a:ext>
            </a:extLst>
          </p:cNvPr>
          <p:cNvSpPr txBox="1"/>
          <p:nvPr/>
        </p:nvSpPr>
        <p:spPr>
          <a:xfrm>
            <a:off x="242639" y="3755472"/>
            <a:ext cx="35995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b="1" i="0" dirty="0">
                <a:effectLst/>
                <a:latin typeface="Verdana "/>
              </a:rPr>
              <a:t>Платформа Lens.org</a:t>
            </a:r>
          </a:p>
          <a:p>
            <a:pPr algn="ctr"/>
            <a:r>
              <a:rPr lang="ru-RU" sz="1400" b="0" i="0" dirty="0">
                <a:effectLst/>
                <a:latin typeface="Verdana "/>
              </a:rPr>
              <a:t>Крупнейшая интеграционная база научных публикаций: </a:t>
            </a:r>
            <a:r>
              <a:rPr lang="ru-RU" sz="1400" b="0" i="0" dirty="0" err="1">
                <a:effectLst/>
                <a:latin typeface="Verdana "/>
              </a:rPr>
              <a:t>PubMed</a:t>
            </a:r>
            <a:r>
              <a:rPr lang="ru-RU" sz="1400" b="0" i="0" dirty="0">
                <a:effectLst/>
                <a:latin typeface="Verdana "/>
              </a:rPr>
              <a:t>, </a:t>
            </a:r>
            <a:r>
              <a:rPr lang="ru-RU" sz="1400" b="0" i="0" dirty="0" err="1">
                <a:effectLst/>
                <a:latin typeface="Verdana "/>
              </a:rPr>
              <a:t>CrossRef</a:t>
            </a:r>
            <a:r>
              <a:rPr lang="ru-RU" sz="1400" b="0" i="0" dirty="0">
                <a:effectLst/>
                <a:latin typeface="Verdana "/>
              </a:rPr>
              <a:t>, MAG и др.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D0490C-6025-4841-96C2-1E6E1597397B}"/>
              </a:ext>
            </a:extLst>
          </p:cNvPr>
          <p:cNvSpPr txBox="1"/>
          <p:nvPr/>
        </p:nvSpPr>
        <p:spPr>
          <a:xfrm>
            <a:off x="3529292" y="3755472"/>
            <a:ext cx="466637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b="1" i="0" dirty="0">
                <a:effectLst/>
                <a:latin typeface="Verdana "/>
              </a:rPr>
              <a:t>Объём данных</a:t>
            </a:r>
          </a:p>
          <a:p>
            <a:pPr algn="ctr"/>
            <a:r>
              <a:rPr lang="ru-RU" sz="1400" b="0" i="0" dirty="0">
                <a:effectLst/>
                <a:latin typeface="Verdana "/>
              </a:rPr>
              <a:t>Более 50 тыс. публикаций в области компьютерных наук за 2014–2024 гг.</a:t>
            </a:r>
          </a:p>
        </p:txBody>
      </p:sp>
      <p:pic>
        <p:nvPicPr>
          <p:cNvPr id="19" name="Объект 5" descr="База данных со сплошной заливкой">
            <a:extLst>
              <a:ext uri="{FF2B5EF4-FFF2-40B4-BE49-F238E27FC236}">
                <a16:creationId xmlns:a16="http://schemas.microsoft.com/office/drawing/2014/main" id="{E80C6934-E20E-4034-B701-47833D364D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585199" y="2597651"/>
            <a:ext cx="914400" cy="914400"/>
          </a:xfrm>
        </p:spPr>
      </p:pic>
      <p:pic>
        <p:nvPicPr>
          <p:cNvPr id="20" name="Рисунок 19" descr="Документ со сплошной заливкой">
            <a:extLst>
              <a:ext uri="{FF2B5EF4-FFF2-40B4-BE49-F238E27FC236}">
                <a16:creationId xmlns:a16="http://schemas.microsoft.com/office/drawing/2014/main" id="{F160948B-529E-4709-802C-A42F745EE2AE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454928" y="2597651"/>
            <a:ext cx="914400" cy="914400"/>
          </a:xfrm>
          <a:prstGeom prst="rect">
            <a:avLst/>
          </a:prstGeom>
        </p:spPr>
      </p:pic>
      <p:pic>
        <p:nvPicPr>
          <p:cNvPr id="21" name="Рисунок 20" descr="Робот со сплошной заливкой">
            <a:extLst>
              <a:ext uri="{FF2B5EF4-FFF2-40B4-BE49-F238E27FC236}">
                <a16:creationId xmlns:a16="http://schemas.microsoft.com/office/drawing/2014/main" id="{A2AA997A-6898-4045-9CE1-367C9459DADF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9324658" y="259765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814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90F126-693F-404F-86D1-1738884C5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Тематическое моделирование с использованием LDA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4C0096-E83F-425F-BCD2-6F748BB80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Для выявления скрытых тем в научных публикациях применялся алгоритм </a:t>
            </a:r>
            <a:r>
              <a:rPr lang="ru-RU" dirty="0" err="1"/>
              <a:t>Latent</a:t>
            </a:r>
            <a:r>
              <a:rPr lang="ru-RU" dirty="0"/>
              <a:t> </a:t>
            </a:r>
            <a:r>
              <a:rPr lang="ru-RU" dirty="0" err="1"/>
              <a:t>Dirichlet</a:t>
            </a:r>
            <a:r>
              <a:rPr lang="ru-RU" dirty="0"/>
              <a:t> </a:t>
            </a:r>
            <a:r>
              <a:rPr lang="ru-RU" dirty="0" err="1"/>
              <a:t>Allocation</a:t>
            </a:r>
            <a:r>
              <a:rPr lang="ru-RU" dirty="0"/>
              <a:t> (LDA)</a:t>
            </a:r>
          </a:p>
          <a:p>
            <a:pPr algn="just"/>
            <a:r>
              <a:rPr lang="ru-RU" dirty="0"/>
              <a:t>Метод основан на предположении, что каждый документ(статья, патент и т.д.) является смесью нескольких тем, а каждая тема характеризуется определенным распределением слов </a:t>
            </a:r>
          </a:p>
          <a:p>
            <a:pPr algn="just"/>
            <a:r>
              <a:rPr lang="ru-RU" dirty="0"/>
              <a:t>Алгоритм позволяет классифицировать статьи по тематическим группам и выявить ключевые тенденции, наблюдаемые в научных исследованиях.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B6EF35A-1C3E-4732-8EC3-1B8284F6B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D432A-D135-4954-8559-2B6A9DE81B6A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51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90F126-693F-404F-86D1-1738884C5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Прогнозирование с применением </a:t>
            </a:r>
            <a:r>
              <a:rPr lang="ru-RU" dirty="0" err="1"/>
              <a:t>Random</a:t>
            </a:r>
            <a:r>
              <a:rPr lang="ru-RU" dirty="0"/>
              <a:t> </a:t>
            </a:r>
            <a:r>
              <a:rPr lang="ru-RU" dirty="0" err="1"/>
              <a:t>Forest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4C0096-E83F-425F-BCD2-6F748BB80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/>
              <a:t>Модель машинного обучения </a:t>
            </a:r>
            <a:r>
              <a:rPr lang="en-US" dirty="0"/>
              <a:t>Random Forest</a:t>
            </a:r>
            <a:r>
              <a:rPr lang="ru-RU" dirty="0"/>
              <a:t> применено для построения предсказательной моделью, определяющей вероятность роста или снижения интереса к определенным научным темам.</a:t>
            </a:r>
          </a:p>
          <a:p>
            <a:pPr algn="just"/>
            <a:r>
              <a:rPr lang="ru-RU" dirty="0"/>
              <a:t>метод представляет собой ансамблевую модель машинного обучения, основанную на множестве решающих деревьев.</a:t>
            </a:r>
          </a:p>
          <a:p>
            <a:pPr algn="just"/>
            <a:endParaRPr lang="ru-RU" dirty="0"/>
          </a:p>
          <a:p>
            <a:pPr algn="just">
              <a:buFont typeface="Wingdings" panose="05000000000000000000" pitchFamily="2" charset="2"/>
              <a:buChar char="q"/>
            </a:pPr>
            <a:r>
              <a:rPr lang="ru-RU" dirty="0"/>
              <a:t>Этапы применения:</a:t>
            </a:r>
          </a:p>
          <a:p>
            <a:pPr algn="just"/>
            <a:r>
              <a:rPr lang="ru-RU" sz="1600" dirty="0"/>
              <a:t>Формирование обучающей выборки, включающей данные о количестве публикаций по темам, авторов, цитируемость и другие </a:t>
            </a:r>
            <a:r>
              <a:rPr lang="ru-RU" sz="1600" dirty="0" err="1"/>
              <a:t>библиометрические</a:t>
            </a:r>
            <a:r>
              <a:rPr lang="ru-RU" sz="1600" dirty="0"/>
              <a:t> показатели.</a:t>
            </a:r>
          </a:p>
          <a:p>
            <a:pPr algn="just"/>
            <a:r>
              <a:rPr lang="ru-RU" sz="1600" dirty="0"/>
              <a:t>Обучение модели на исторических данных.</a:t>
            </a:r>
          </a:p>
          <a:p>
            <a:pPr algn="just"/>
            <a:r>
              <a:rPr lang="ru-RU" sz="1600" dirty="0"/>
              <a:t>Определение значимости признаков.</a:t>
            </a:r>
          </a:p>
          <a:p>
            <a:pPr algn="just"/>
            <a:r>
              <a:rPr lang="ru-RU" sz="1600" dirty="0"/>
              <a:t>Построение предсказательной модели для прогнозирования количества публикаций по темам на 2025–2029 гг.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B6EF35A-1C3E-4732-8EC3-1B8284F6B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D432A-D135-4954-8559-2B6A9DE81B6A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894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BC64745-4EDA-4FF6-B659-61BA0CA6E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D432A-D135-4954-8559-2B6A9DE81B6A}" type="slidenum">
              <a:rPr lang="ru-RU" smtClean="0"/>
              <a:t>6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9F076B2-3841-440D-9F95-919954D2B53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302003"/>
            <a:ext cx="11576807" cy="607760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3D5C0F-6C2C-4D5D-8DC7-8558B29A028A}"/>
              </a:ext>
            </a:extLst>
          </p:cNvPr>
          <p:cNvSpPr txBox="1"/>
          <p:nvPr/>
        </p:nvSpPr>
        <p:spPr>
          <a:xfrm>
            <a:off x="-1" y="6379611"/>
            <a:ext cx="113670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Модель демонстрируют высокую точность прогноза  (MAE = 12.3, RMSE = 15.8, R² = 0.89)</a:t>
            </a:r>
          </a:p>
          <a:p>
            <a:r>
              <a:rPr lang="ru-RU" sz="1400" dirty="0"/>
              <a:t>Сравнение с моделью ARIMA (MAE = 15.1, R² = 0.72) показало превосходство на 18%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E2BB16-A322-43B9-87B4-31D6A882EE0B}"/>
              </a:ext>
            </a:extLst>
          </p:cNvPr>
          <p:cNvSpPr txBox="1"/>
          <p:nvPr/>
        </p:nvSpPr>
        <p:spPr>
          <a:xfrm>
            <a:off x="1344" y="-494"/>
            <a:ext cx="118725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Прогноз числа публикаций с применением модели </a:t>
            </a:r>
            <a:r>
              <a:rPr lang="ru-RU" sz="1600" dirty="0" err="1"/>
              <a:t>Random</a:t>
            </a:r>
            <a:r>
              <a:rPr lang="ru-RU" sz="1600" dirty="0"/>
              <a:t> </a:t>
            </a:r>
            <a:r>
              <a:rPr lang="ru-RU" sz="1600" dirty="0" err="1"/>
              <a:t>Forest</a:t>
            </a:r>
            <a:r>
              <a:rPr lang="ru-RU" sz="1600" dirty="0"/>
              <a:t> и кросс-валидации</a:t>
            </a:r>
          </a:p>
        </p:txBody>
      </p:sp>
    </p:spTree>
    <p:extLst>
      <p:ext uri="{BB962C8B-B14F-4D97-AF65-F5344CB8AC3E}">
        <p14:creationId xmlns:p14="http://schemas.microsoft.com/office/powerpoint/2010/main" val="1918055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C1E028F-0CA6-4DA4-97E9-A0629FDFF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D432A-D135-4954-8559-2B6A9DE81B6A}" type="slidenum">
              <a:rPr lang="ru-RU" smtClean="0"/>
              <a:t>7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14839E6-25AA-4496-9D67-FBC16D05218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06679" y="0"/>
            <a:ext cx="10544961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933FC8-98D6-449C-BF6F-B1F34BD86640}"/>
              </a:ext>
            </a:extLst>
          </p:cNvPr>
          <p:cNvSpPr txBox="1"/>
          <p:nvPr/>
        </p:nvSpPr>
        <p:spPr>
          <a:xfrm>
            <a:off x="0" y="0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Граф корреляций между темами</a:t>
            </a:r>
          </a:p>
        </p:txBody>
      </p:sp>
    </p:spTree>
    <p:extLst>
      <p:ext uri="{BB962C8B-B14F-4D97-AF65-F5344CB8AC3E}">
        <p14:creationId xmlns:p14="http://schemas.microsoft.com/office/powerpoint/2010/main" val="1412654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90F126-693F-404F-86D1-1738884C5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B6EF35A-1C3E-4732-8EC3-1B8284F6B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D432A-D135-4954-8559-2B6A9DE81B6A}" type="slidenum">
              <a:rPr lang="ru-RU" smtClean="0"/>
              <a:t>8</a:t>
            </a:fld>
            <a:endParaRPr lang="ru-RU"/>
          </a:p>
        </p:txBody>
      </p:sp>
      <p:sp>
        <p:nvSpPr>
          <p:cNvPr id="19" name="Объект 2">
            <a:extLst>
              <a:ext uri="{FF2B5EF4-FFF2-40B4-BE49-F238E27FC236}">
                <a16:creationId xmlns:a16="http://schemas.microsoft.com/office/drawing/2014/main" id="{DBDC0F51-03AE-4594-8049-A1DE17FFC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44052" cy="4351338"/>
          </a:xfrm>
        </p:spPr>
        <p:txBody>
          <a:bodyPr/>
          <a:lstStyle/>
          <a:p>
            <a:pPr algn="just"/>
            <a:r>
              <a:rPr lang="ru-RU" dirty="0"/>
              <a:t>Применение алгоритма </a:t>
            </a:r>
            <a:r>
              <a:rPr lang="ru-RU" dirty="0" err="1"/>
              <a:t>Random</a:t>
            </a:r>
            <a:r>
              <a:rPr lang="ru-RU" dirty="0"/>
              <a:t> </a:t>
            </a:r>
            <a:r>
              <a:rPr lang="ru-RU" dirty="0" err="1"/>
              <a:t>Forest</a:t>
            </a:r>
            <a:r>
              <a:rPr lang="ru-RU" dirty="0"/>
              <a:t> совместно с тематическим моделированием LDA для проведения прогнозирования обеспечило высокую точность (R² = 0.89) в предсказании научных тем.</a:t>
            </a:r>
          </a:p>
          <a:p>
            <a:pPr algn="just"/>
            <a:r>
              <a:rPr lang="ru-RU" dirty="0"/>
              <a:t>Интеграция тематического моделирования, </a:t>
            </a:r>
            <a:r>
              <a:rPr lang="ru-RU" dirty="0" err="1"/>
              <a:t>библиометрии</a:t>
            </a:r>
            <a:r>
              <a:rPr lang="ru-RU" dirty="0"/>
              <a:t> и корреляционного анализа усилила глубину исследования.</a:t>
            </a:r>
          </a:p>
          <a:p>
            <a:pPr algn="just"/>
            <a:r>
              <a:rPr lang="ru-RU" dirty="0" err="1"/>
              <a:t>Графовый</a:t>
            </a:r>
            <a:r>
              <a:rPr lang="ru-RU" dirty="0"/>
              <a:t> анализ предоставил комплексный подход к исследованию научных тенденций по направлениям, что способствовало идентифицировать ключевых областей исследований</a:t>
            </a:r>
          </a:p>
        </p:txBody>
      </p:sp>
    </p:spTree>
    <p:extLst>
      <p:ext uri="{BB962C8B-B14F-4D97-AF65-F5344CB8AC3E}">
        <p14:creationId xmlns:p14="http://schemas.microsoft.com/office/powerpoint/2010/main" val="788184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E7823D-94CC-4125-9EDB-811407AD2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5760EB7-A2F1-46BF-88AF-349318753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D432A-D135-4954-8559-2B6A9DE81B6A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9517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Другая 5">
      <a:dk1>
        <a:sysClr val="windowText" lastClr="000000"/>
      </a:dk1>
      <a:lt1>
        <a:sysClr val="window" lastClr="FFFFFF"/>
      </a:lt1>
      <a:dk2>
        <a:srgbClr val="6C6D6C"/>
      </a:dk2>
      <a:lt2>
        <a:srgbClr val="E7E6E6"/>
      </a:lt2>
      <a:accent1>
        <a:srgbClr val="3B7698"/>
      </a:accent1>
      <a:accent2>
        <a:srgbClr val="28BE46"/>
      </a:accent2>
      <a:accent3>
        <a:srgbClr val="FF4460"/>
      </a:accent3>
      <a:accent4>
        <a:srgbClr val="FFB600"/>
      </a:accent4>
      <a:accent5>
        <a:srgbClr val="6573FF"/>
      </a:accent5>
      <a:accent6>
        <a:srgbClr val="76B729"/>
      </a:accent6>
      <a:hlink>
        <a:srgbClr val="00B0F0"/>
      </a:hlink>
      <a:folHlink>
        <a:srgbClr val="0082B0"/>
      </a:folHlink>
    </a:clrScheme>
    <a:fontScheme name="ТПУ2022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_ИШНКБ_ТПУ_бумага_2022" id="{E92067F9-B219-473D-8CA7-E76BF7CECA97}" vid="{0258512F-E367-4D85-8A7F-92C966D94D9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493</TotalTime>
  <Words>417</Words>
  <Application>Microsoft Office PowerPoint</Application>
  <PresentationFormat>Широкоэкранный</PresentationFormat>
  <Paragraphs>49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Arial</vt:lpstr>
      <vt:lpstr>Calibri</vt:lpstr>
      <vt:lpstr>Times New Roman</vt:lpstr>
      <vt:lpstr>Verdana</vt:lpstr>
      <vt:lpstr>Verdana </vt:lpstr>
      <vt:lpstr>Wingdings</vt:lpstr>
      <vt:lpstr>Тема Office</vt:lpstr>
      <vt:lpstr>ПРОГНОЗИРОВАНИЕ БУДУЩИХ ТЕНДЕНЦИЙ В НАУЧНЫХ ИССЛЕДОВАНИЯХ НА ОСНОВЕ ИНТЕГРИРОВАННОГО АНАЛИЗА ДАННЫХ ПУБЛИКАЦИЙ С ПРИМЕНЕНИЕМ МАШИННОГО ОБУЧЕНИЯ</vt:lpstr>
      <vt:lpstr>Цель и задачи исследования</vt:lpstr>
      <vt:lpstr>Исходные данные для исследования</vt:lpstr>
      <vt:lpstr>Тематическое моделирование с использованием LDA</vt:lpstr>
      <vt:lpstr>Прогнозирование с применением Random Forest</vt:lpstr>
      <vt:lpstr>Презентация PowerPoint</vt:lpstr>
      <vt:lpstr>Презентация PowerPoint</vt:lpstr>
      <vt:lpstr>Заключение</vt:lpstr>
      <vt:lpstr>Спасибо за внимание</vt:lpstr>
    </vt:vector>
  </TitlesOfParts>
  <Company>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/>
  <cp:lastModifiedBy>Iskandar As</cp:lastModifiedBy>
  <cp:revision>22</cp:revision>
  <cp:lastPrinted>2021-08-02T01:21:27Z</cp:lastPrinted>
  <dcterms:created xsi:type="dcterms:W3CDTF">2022-10-31T07:21:57Z</dcterms:created>
  <dcterms:modified xsi:type="dcterms:W3CDTF">2025-04-15T23:10:41Z</dcterms:modified>
</cp:coreProperties>
</file>